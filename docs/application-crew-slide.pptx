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88900" rIns="88900" tIns="63500" bIns="635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F2933"/>
                </a:solidFill>
                <a:latin typeface="Segoe UI"/>
              </a:rPr>
              <a:t>PMO Program Intelligence Crew</a:t>
            </a:r>
            <a:r>
              <a:rPr sz="2500" b="1">
                <a:solidFill>
                  <a:srgbClr val="64748B"/>
                </a:solidFill>
                <a:latin typeface="Segoe UI"/>
              </a:rPr>
              <a:t>   ·   Application Crew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anchor="t" lIns="88900" rIns="88900" tIns="63500" bIns="635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Runtime: </a:t>
            </a:r>
            <a:r>
              <a:rPr sz="1200" b="1">
                <a:solidFill>
                  <a:srgbClr val="334155"/>
                </a:solidFill>
                <a:latin typeface="Segoe UI"/>
              </a:rPr>
              <a:t>claude-agent-sdk</a:t>
            </a:r>
            <a:r>
              <a:rPr sz="1200" b="0">
                <a:solidFill>
                  <a:srgbClr val="6B7280"/>
                </a:solidFill>
                <a:latin typeface="Segoe UI"/>
              </a:rPr>
              <a:t>    |    End user: </a:t>
            </a:r>
            <a:r>
              <a:rPr sz="1200" b="1">
                <a:solidFill>
                  <a:srgbClr val="334155"/>
                </a:solidFill>
                <a:latin typeface="Segoe UI"/>
              </a:rPr>
              <a:t>program manager</a:t>
            </a:r>
            <a:r>
              <a:rPr sz="1200" b="0">
                <a:solidFill>
                  <a:srgbClr val="6B7280"/>
                </a:solidFill>
                <a:latin typeface="Segoe UI"/>
              </a:rPr>
              <a:t>    |    Orchestration: </a:t>
            </a:r>
            <a:r>
              <a:rPr sz="1200" b="1">
                <a:solidFill>
                  <a:srgbClr val="334155"/>
                </a:solidFill>
                <a:latin typeface="Segoe UI"/>
              </a:rPr>
              <a:t>hybrid (parallel analysis, sequential synthesis, hierarchical supervisor, HITL gate)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4552" cy="25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0972800" cy="274320"/>
          </a:xfrm>
          <a:prstGeom prst="rect">
            <a:avLst/>
          </a:prstGeom>
          <a:noFill/>
        </p:spPr>
        <p:txBody>
          <a:bodyPr wrap="square" anchor="t" lIns="88900" rIns="88900" tIns="63500" bIns="635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7280"/>
                </a:solidFill>
                <a:latin typeface="Segoe UI"/>
              </a:rPr>
              <a:t>RUNTIME FLOW: HOW THE AGENTS USERS INTERACT WITH COORDINATE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76200"/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64748B"/>
                </a:solidFill>
                <a:latin typeface="Segoe UI"/>
              </a:rPr>
              <a:t>LOAD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3"/>
                </a:solidFill>
                <a:latin typeface="Segoe UI"/>
              </a:rPr>
              <a:t>Ingestion</a:t>
            </a:r>
          </a:p>
          <a:p>
            <a:r>
              <a:rPr sz="800" b="0">
                <a:solidFill>
                  <a:srgbClr val="6B7280"/>
                </a:solidFill>
                <a:latin typeface="Segoe UI"/>
              </a:rPr>
              <a:t>Reads the project sheet and burn/capacity file into one normalized shared state.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40280" y="2423160"/>
            <a:ext cx="32004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1760" y="1572768"/>
            <a:ext cx="2880360" cy="658368"/>
          </a:xfrm>
          <a:prstGeom prst="roundRect">
            <a:avLst>
              <a:gd name="adj" fmla="val 10000"/>
            </a:avLst>
          </a:prstGeom>
          <a:solidFill>
            <a:srgbClr val="E6F4F1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76200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Segoe UI"/>
              </a:rPr>
              <a:t>Status Rollup</a:t>
            </a:r>
          </a:p>
          <a:p>
            <a:r>
              <a:rPr sz="800" b="0">
                <a:solidFill>
                  <a:srgbClr val="6B7280"/>
                </a:solidFill>
                <a:latin typeface="Segoe UI"/>
              </a:rPr>
              <a:t>Derives each priority's RAG from child tasks, citing the rows.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359152"/>
            <a:ext cx="2880360" cy="658368"/>
          </a:xfrm>
          <a:prstGeom prst="roundRect">
            <a:avLst>
              <a:gd name="adj" fmla="val 10000"/>
            </a:avLst>
          </a:prstGeom>
          <a:solidFill>
            <a:srgbClr val="E6F4F1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76200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Segoe UI"/>
              </a:rPr>
              <a:t>Capacity / Burn</a:t>
            </a:r>
          </a:p>
          <a:p>
            <a:r>
              <a:rPr sz="800" b="0">
                <a:solidFill>
                  <a:srgbClr val="6B7280"/>
                </a:solidFill>
                <a:latin typeface="Segoe UI"/>
              </a:rPr>
              <a:t>Computes utilization and a fit or no-fit signal per workstream.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145536"/>
            <a:ext cx="2880360" cy="658368"/>
          </a:xfrm>
          <a:prstGeom prst="roundRect">
            <a:avLst>
              <a:gd name="adj" fmla="val 10000"/>
            </a:avLst>
          </a:prstGeom>
          <a:solidFill>
            <a:srgbClr val="E6F4F1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76200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Segoe UI"/>
              </a:rPr>
              <a:t>Risk &amp; Compliance</a:t>
            </a:r>
          </a:p>
          <a:p>
            <a:r>
              <a:rPr sz="800" b="0">
                <a:solidFill>
                  <a:srgbClr val="6B7280"/>
                </a:solidFill>
                <a:latin typeface="Segoe UI"/>
              </a:rPr>
              <a:t>Flags and ranks risks with source evidence and a suggested owner.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23560" y="2423160"/>
            <a:ext cx="32004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0" y="205740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E6ED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76200"/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1D4ED8"/>
                </a:solidFill>
                <a:latin typeface="Segoe UI"/>
              </a:rPr>
              <a:t>SYNTHESIZE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D4ED8"/>
                </a:solidFill>
                <a:latin typeface="Segoe UI"/>
              </a:rPr>
              <a:t>Narrative</a:t>
            </a:r>
          </a:p>
          <a:p>
            <a:r>
              <a:rPr sz="800" b="0">
                <a:solidFill>
                  <a:srgbClr val="6B7280"/>
                </a:solidFill>
                <a:latin typeface="Segoe UI"/>
              </a:rPr>
              <a:t>Builds the DRAFT executive readout from all analysis outputs.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9560" y="2423160"/>
            <a:ext cx="32004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205740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FDF1E0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76200"/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B45309"/>
                </a:solidFill>
                <a:latin typeface="Segoe UI"/>
              </a:rPr>
              <a:t>HUMAN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HITL Gate</a:t>
            </a:r>
          </a:p>
          <a:p>
            <a:r>
              <a:rPr sz="800" b="0">
                <a:solidFill>
                  <a:srgbClr val="6B7280"/>
                </a:solidFill>
                <a:latin typeface="Segoe UI"/>
              </a:rPr>
              <a:t>Program manager approves, edits, or rejects before anything is final.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195560" y="2423160"/>
            <a:ext cx="32004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607040" y="2194560"/>
            <a:ext cx="1143000" cy="640080"/>
          </a:xfrm>
          <a:prstGeom prst="roundRect">
            <a:avLst>
              <a:gd name="adj" fmla="val 10000"/>
            </a:avLst>
          </a:prstGeom>
          <a:solidFill>
            <a:srgbClr val="E7F4EC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5803D"/>
                </a:solidFill>
                <a:latin typeface="Segoe UI"/>
              </a:rPr>
              <a:t>FINAL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Segoe UI"/>
              </a:rPr>
              <a:t>Approved readout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29000"/>
            <a:ext cx="11274552" cy="64008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Supervisor / Orchestrator   </a:t>
            </a:r>
            <a:r>
              <a:rPr sz="1150">
                <a:solidFill>
                  <a:srgbClr val="FFFFFF"/>
                </a:solidFill>
                <a:latin typeface="Segoe UI"/>
              </a:rPr>
              <a:t>holds shared state across all agents, routes work, and enforces the approval gate.   </a:t>
            </a:r>
            <a:r>
              <a:rPr sz="1050" i="1">
                <a:solidFill>
                  <a:srgbClr val="CBD5E1"/>
                </a:solidFill>
                <a:latin typeface="Segoe UI"/>
              </a:rPr>
              <a:t>(hierarchical, spans the whole flow)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43400"/>
            <a:ext cx="7680960" cy="210312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7C3AED"/>
                </a:solidFill>
                <a:latin typeface="Segoe UI"/>
              </a:rPr>
              <a:t>DEVELOPMENT CREW  ·  BUILDS THE SYSTEM (IDE / BUILD TIME, NOT SHIPPED)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7C3AED"/>
                </a:solidFill>
                <a:latin typeface="Segoe UI"/>
              </a:rPr>
              <a:t>Define: </a:t>
            </a:r>
            <a:r>
              <a:rPr sz="1150">
                <a:solidFill>
                  <a:srgbClr val="1F2933"/>
                </a:solidFill>
                <a:latin typeface="Segoe UI"/>
              </a:rPr>
              <a:t>product-mgr (MRD, PRD), system-arch (SAD)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7C3AED"/>
                </a:solidFill>
                <a:latin typeface="Segoe UI"/>
              </a:rPr>
              <a:t>Build: </a:t>
            </a:r>
            <a:r>
              <a:rPr sz="1150">
                <a:solidFill>
                  <a:srgbClr val="1F2933"/>
                </a:solidFill>
                <a:latin typeface="Segoe UI"/>
              </a:rPr>
              <a:t>project-mgr, backend-eng, frontend-eng, integration-eng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7C3AED"/>
                </a:solidFill>
                <a:latin typeface="Segoe UI"/>
              </a:rPr>
              <a:t>Validate / Deliver: </a:t>
            </a:r>
            <a:r>
              <a:rPr sz="1150">
                <a:solidFill>
                  <a:srgbClr val="1F2933"/>
                </a:solidFill>
                <a:latin typeface="Segoe UI"/>
              </a:rPr>
              <a:t>qa-eng, security-eng, devops-eng</a:t>
            </a:r>
          </a:p>
          <a:p>
            <a:pPr>
              <a:spcBef>
                <a:spcPts val="600"/>
              </a:spcBef>
            </a:pPr>
            <a:r>
              <a:rPr sz="1050" i="1">
                <a:solidFill>
                  <a:srgbClr val="6B7280"/>
                </a:solidFill>
                <a:latin typeface="Segoe UI"/>
              </a:rPr>
              <a:t>The Development Crew builds the thing. The Application Crew above is the thing.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4343400"/>
            <a:ext cx="345643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900"/>
              </a:spcAft>
            </a:pPr>
            <a:r>
              <a:rPr sz="1100" b="1">
                <a:solidFill>
                  <a:srgbClr val="334155"/>
                </a:solidFill>
                <a:latin typeface="Segoe UI"/>
              </a:rPr>
              <a:t>PATTERN LEGEND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0F766E"/>
                </a:solidFill>
                <a:latin typeface="Segoe UI"/>
              </a:rPr>
              <a:t>■  </a:t>
            </a:r>
            <a:r>
              <a:rPr sz="1050">
                <a:solidFill>
                  <a:srgbClr val="1F2933"/>
                </a:solidFill>
                <a:latin typeface="Segoe UI"/>
              </a:rPr>
              <a:t>Parallel: independent analysis runs concurrently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D4ED8"/>
                </a:solidFill>
                <a:latin typeface="Segoe UI"/>
              </a:rPr>
              <a:t>■  </a:t>
            </a:r>
            <a:r>
              <a:rPr sz="1050">
                <a:solidFill>
                  <a:srgbClr val="1F2933"/>
                </a:solidFill>
                <a:latin typeface="Segoe UI"/>
              </a:rPr>
              <a:t>Sequential: Narrative depends on all analysis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B45309"/>
                </a:solidFill>
                <a:latin typeface="Segoe UI"/>
              </a:rPr>
              <a:t>■  </a:t>
            </a:r>
            <a:r>
              <a:rPr sz="1050">
                <a:solidFill>
                  <a:srgbClr val="1F2933"/>
                </a:solidFill>
                <a:latin typeface="Segoe UI"/>
              </a:rPr>
              <a:t>Human-in-the-loop: hard stop before final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■  </a:t>
            </a:r>
            <a:r>
              <a:rPr sz="1050">
                <a:solidFill>
                  <a:srgbClr val="1F2933"/>
                </a:solidFill>
                <a:latin typeface="Segoe UI"/>
              </a:rPr>
              <a:t>Hierarchical: Supervisor owns shared 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